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2144" y="484187"/>
            <a:ext cx="7772400" cy="1470025"/>
          </a:xfrm>
        </p:spPr>
        <p:txBody>
          <a:bodyPr>
            <a:normAutofit fontScale="90000"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rPr dirty="0"/>
              <a:t>AI-Powered Fish Health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37944" y="2698531"/>
            <a:ext cx="6400800" cy="1752600"/>
          </a:xfrm>
        </p:spPr>
        <p:txBody>
          <a:bodyPr>
            <a:normAutofit fontScale="77500" lnSpcReduction="20000"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dirty="0"/>
              <a:t>Aquaculture Disease Detection Using Deep Learning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endParaRPr dirty="0"/>
          </a:p>
          <a:p>
            <a:pPr>
              <a:defRPr sz="2800">
                <a:solidFill>
                  <a:srgbClr val="FFFFFF"/>
                </a:solidFill>
              </a:defRPr>
            </a:pPr>
            <a:r>
              <a:rPr dirty="0"/>
              <a:t>- Real-time disease classification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rPr dirty="0"/>
              <a:t>- 7-class disease detection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rPr dirty="0"/>
              <a:t>- Explainable AI &amp; Edge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88E5"/>
                </a:solidFill>
                <a:latin typeface="Arial"/>
              </a:defRPr>
            </a:pPr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1" y="727842"/>
            <a:ext cx="8229600" cy="452596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defRPr sz="2800" b="1">
                <a:solidFill>
                  <a:srgbClr val="FB8C00"/>
                </a:solidFill>
              </a:defRPr>
            </a:pPr>
            <a:r>
              <a:rPr dirty="0"/>
              <a:t>Challenges in Aquaculture:</a:t>
            </a:r>
          </a:p>
          <a:p>
            <a:pPr lvl="1">
              <a:defRPr sz="2400"/>
            </a:pPr>
            <a:r>
              <a:rPr dirty="0"/>
              <a:t>Manual disease detection is time-consuming and prone to errors</a:t>
            </a:r>
          </a:p>
          <a:p>
            <a:pPr lvl="1">
              <a:defRPr sz="2400"/>
            </a:pPr>
            <a:r>
              <a:rPr dirty="0"/>
              <a:t>Early detection is critical but expert knowledge is scarce</a:t>
            </a:r>
          </a:p>
          <a:p>
            <a:pPr lvl="1">
              <a:defRPr sz="2400"/>
            </a:pPr>
            <a:r>
              <a:rPr dirty="0"/>
              <a:t>Real-time monitoring needed for large farms</a:t>
            </a:r>
          </a:p>
          <a:p>
            <a:br>
              <a:rPr dirty="0"/>
            </a:br>
            <a:r>
              <a:rPr dirty="0"/>
              <a:t>Our Solution:</a:t>
            </a:r>
          </a:p>
          <a:p>
            <a:pPr lvl="1">
              <a:defRPr sz="2400"/>
            </a:pPr>
            <a:r>
              <a:rPr dirty="0"/>
              <a:t>AI-powered automated detection using Computer Vision</a:t>
            </a:r>
          </a:p>
          <a:p>
            <a:pPr lvl="1">
              <a:defRPr sz="2400"/>
            </a:pPr>
            <a:r>
              <a:rPr dirty="0"/>
              <a:t>Instant diagnosis with high accuracy (76.55%)</a:t>
            </a:r>
          </a:p>
          <a:p>
            <a:pPr lvl="1">
              <a:defRPr sz="2400"/>
            </a:pPr>
            <a:r>
              <a:rPr dirty="0"/>
              <a:t>Explainable predictions (Grad-CAM) &amp; Offline Edge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88E5"/>
                </a:solidFill>
                <a:latin typeface="Arial"/>
              </a:defRPr>
            </a:pP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586" y="538656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Core Objective:</a:t>
            </a:r>
          </a:p>
          <a:p>
            <a:r>
              <a:rPr dirty="0"/>
              <a:t>Develop an explainable, real-time AI system for multi-class image classification of freshwater fish diseases.</a:t>
            </a:r>
          </a:p>
          <a:p>
            <a:br>
              <a:rPr dirty="0"/>
            </a:br>
            <a:r>
              <a:rPr dirty="0"/>
              <a:t>Key Features:</a:t>
            </a:r>
          </a:p>
          <a:p>
            <a:pPr lvl="1"/>
            <a:r>
              <a:rPr dirty="0"/>
              <a:t>✅ 7 Disease Classes: Healthy + 6 common diseases</a:t>
            </a:r>
          </a:p>
          <a:p>
            <a:pPr lvl="1"/>
            <a:r>
              <a:rPr dirty="0"/>
              <a:t>✅ Architecture: MobileNetV2 (Transfer Learning)</a:t>
            </a:r>
          </a:p>
          <a:p>
            <a:pPr lvl="1"/>
            <a:r>
              <a:rPr dirty="0"/>
              <a:t>✅ High Accuracy: 76.55% on test set</a:t>
            </a:r>
          </a:p>
          <a:p>
            <a:pPr lvl="1"/>
            <a:r>
              <a:rPr dirty="0"/>
              <a:t>✅ Explainable AI: Grad-CAM visualizations</a:t>
            </a:r>
          </a:p>
          <a:p>
            <a:pPr lvl="1"/>
            <a:r>
              <a:rPr dirty="0"/>
              <a:t>✅ Edge Deployment: </a:t>
            </a:r>
            <a:r>
              <a:rPr dirty="0" err="1"/>
              <a:t>TFLite</a:t>
            </a:r>
            <a:r>
              <a:rPr dirty="0"/>
              <a:t> (2.40 MB)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88E5"/>
                </a:solidFill>
                <a:latin typeface="Arial"/>
              </a:defRPr>
            </a:pPr>
            <a:r>
              <a:t>Disease Classes (7 Categories)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2,400+ images, balanced distribution</a:t>
            </a:r>
          </a:p>
          <a:p>
            <a:pPr lvl="1">
              <a:spcAft>
                <a:spcPts val="1000"/>
              </a:spcAft>
            </a:pPr>
            <a:r>
              <a:t>🟢 Healthy Fish (Health Status)</a:t>
            </a:r>
          </a:p>
          <a:p>
            <a:pPr lvl="1">
              <a:spcAft>
                <a:spcPts val="1000"/>
              </a:spcAft>
            </a:pPr>
            <a:r>
              <a:t>🔴 Aeromoniasis (Bacterial)</a:t>
            </a:r>
          </a:p>
          <a:p>
            <a:pPr lvl="1">
              <a:spcAft>
                <a:spcPts val="1000"/>
              </a:spcAft>
            </a:pPr>
            <a:r>
              <a:t>🔴 Gill Disease (Bacterial)</a:t>
            </a:r>
          </a:p>
          <a:p>
            <a:pPr lvl="1">
              <a:spcAft>
                <a:spcPts val="1000"/>
              </a:spcAft>
            </a:pPr>
            <a:r>
              <a:t>🔴 Red Disease (Bacterial)</a:t>
            </a:r>
          </a:p>
          <a:p>
            <a:pPr lvl="1">
              <a:spcAft>
                <a:spcPts val="1000"/>
              </a:spcAft>
            </a:pPr>
            <a:r>
              <a:t>🟡 Saprolegniasis (Fungal)</a:t>
            </a:r>
          </a:p>
          <a:p>
            <a:pPr lvl="1">
              <a:spcAft>
                <a:spcPts val="1000"/>
              </a:spcAft>
            </a:pPr>
            <a:r>
              <a:t>🟠 Parasitic Disease (Parasitic)</a:t>
            </a:r>
          </a:p>
          <a:p>
            <a:pPr lvl="1">
              <a:spcAft>
                <a:spcPts val="1000"/>
              </a:spcAft>
            </a:pPr>
            <a:r>
              <a:t>🔵 White Tail Disease (Viral)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88E5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Pipeline:</a:t>
            </a:r>
          </a:p>
          <a:p>
            <a:pPr lvl="1">
              <a:defRPr sz="2200"/>
            </a:pPr>
            <a:r>
              <a:t>Input Image (224×224×3)</a:t>
            </a:r>
          </a:p>
          <a:p>
            <a:pPr lvl="1">
              <a:defRPr sz="2200"/>
            </a:pPr>
            <a:r>
              <a:t>⬇ MobileNetV2 (Pre-trained on ImageNet)</a:t>
            </a:r>
          </a:p>
          <a:p>
            <a:pPr lvl="1">
              <a:defRPr sz="2200"/>
            </a:pPr>
            <a:r>
              <a:t>⬇ Feature Extraction (Frozen layers)</a:t>
            </a:r>
          </a:p>
          <a:p>
            <a:pPr lvl="1">
              <a:defRPr sz="2200"/>
            </a:pPr>
            <a:r>
              <a:t>⬇ Global Average Pooling &amp; Dropout (0.3)</a:t>
            </a:r>
          </a:p>
          <a:p>
            <a:pPr lvl="1">
              <a:defRPr sz="2200"/>
            </a:pPr>
            <a:r>
              <a:t>⬇ Dense Layer (7 classes) -&gt; Softmax</a:t>
            </a:r>
          </a:p>
          <a:p>
            <a:pPr lvl="1">
              <a:defRPr sz="2200"/>
            </a:pPr>
            <a:r>
              <a:t>⬇ Disease Prediction</a:t>
            </a:r>
          </a:p>
          <a:p>
            <a:br/>
            <a:r>
              <a:t>Stack: TensorFlow/Keras 3, Adam Optimizer, Grad-CAM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88E5"/>
                </a:solidFill>
                <a:latin typeface="Arial"/>
              </a:defRPr>
            </a:pPr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(Test Set - 469 images):</a:t>
            </a:r>
          </a:p>
          <a:p>
            <a:pPr lvl="1">
              <a:defRPr sz="3200" b="1">
                <a:solidFill>
                  <a:srgbClr val="1E88E5"/>
                </a:solidFill>
              </a:defRPr>
            </a:pPr>
            <a:r>
              <a:t>🏆 Accuracy: 76.55%</a:t>
            </a:r>
          </a:p>
          <a:p>
            <a:pPr lvl="1">
              <a:defRPr sz="3200" b="1">
                <a:solidFill>
                  <a:srgbClr val="1E88E5"/>
                </a:solidFill>
              </a:defRPr>
            </a:pPr>
            <a:r>
              <a:t>🎯 Precision: 88.42%</a:t>
            </a:r>
          </a:p>
          <a:p>
            <a:pPr lvl="1">
              <a:defRPr sz="3200" b="1">
                <a:solidFill>
                  <a:srgbClr val="1E88E5"/>
                </a:solidFill>
              </a:defRPr>
            </a:pPr>
            <a:r>
              <a:t>🔍 Recall: 58.64%</a:t>
            </a:r>
          </a:p>
          <a:p>
            <a:pPr lvl="1">
              <a:defRPr sz="3200" b="1">
                <a:solidFill>
                  <a:srgbClr val="1E88E5"/>
                </a:solidFill>
              </a:defRPr>
            </a:pPr>
            <a:r>
              <a:t>⚖️ F1-Score: 76.41%</a:t>
            </a:r>
          </a:p>
          <a:p>
            <a:br/>
            <a:r>
              <a:t>Best Performing Classes:</a:t>
            </a:r>
          </a:p>
          <a:p>
            <a:pPr lvl="1"/>
            <a:r>
              <a:t>⭐ Healthy: 93% Recall (Critical for safety)</a:t>
            </a:r>
          </a:p>
          <a:p>
            <a:pPr lvl="1"/>
            <a:r>
              <a:t>⭐ Gill Disease: 88% Precision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88E5"/>
                </a:solidFill>
                <a:latin typeface="Arial"/>
              </a:defRPr>
            </a:pPr>
            <a:r>
              <a:t>Explainable AI - Grad-CAM</a:t>
            </a:r>
          </a:p>
        </p:txBody>
      </p:sp>
      <p:pic>
        <p:nvPicPr>
          <p:cNvPr id="3" name="Picture 2" descr="gradcam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058400" cy="35014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88E5"/>
                </a:solidFill>
                <a:latin typeface="Arial"/>
              </a:defRPr>
            </a:pPr>
            <a:r>
              <a:t>Edge-AI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TensorFlow Lite Conversion</a:t>
            </a:r>
          </a:p>
          <a:p>
            <a:pPr lvl="1">
              <a:defRPr b="1"/>
            </a:pPr>
            <a:r>
              <a:t>Original Model: ~8.65 MB</a:t>
            </a:r>
          </a:p>
          <a:p>
            <a:pPr lvl="1">
              <a:defRPr b="1"/>
            </a:pPr>
            <a:r>
              <a:t>⬇ Optimized TFLite: 2.40 MB (Quantized)</a:t>
            </a:r>
          </a:p>
          <a:p>
            <a:pPr lvl="1">
              <a:defRPr b="1"/>
            </a:pPr>
            <a:r>
              <a:t>⬇ 72% Size Reduction</a:t>
            </a:r>
          </a:p>
          <a:p>
            <a:br/>
            <a:r>
              <a:t>capabilities:</a:t>
            </a:r>
          </a:p>
          <a:p>
            <a:pPr lvl="1"/>
            <a:r>
              <a:t>✅ Offline Operation (No internet)</a:t>
            </a:r>
          </a:p>
          <a:p>
            <a:pPr lvl="1"/>
            <a:r>
              <a:t>✅ Real-time Inference on Mobile/Edge devices</a:t>
            </a:r>
          </a:p>
          <a:p>
            <a:pPr lvl="1"/>
            <a:r>
              <a:t>✅ Low Resource Consumption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88E5"/>
                </a:solidFill>
                <a:latin typeface="Arial"/>
              </a:defRPr>
            </a:pPr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Status: Fully Operational</a:t>
            </a:r>
          </a:p>
          <a:p>
            <a:pPr lvl="1">
              <a:spcAft>
                <a:spcPts val="2000"/>
              </a:spcAft>
            </a:pPr>
            <a:r>
              <a:t>✅ Balanced stratified dataset (7 classes)</a:t>
            </a:r>
          </a:p>
          <a:p>
            <a:pPr lvl="1">
              <a:spcAft>
                <a:spcPts val="2000"/>
              </a:spcAft>
            </a:pPr>
            <a:r>
              <a:t>✅ Keras 3 Compatibility &amp; Modern UI</a:t>
            </a:r>
          </a:p>
          <a:p>
            <a:pPr lvl="1">
              <a:spcAft>
                <a:spcPts val="2000"/>
              </a:spcAft>
            </a:pPr>
            <a:r>
              <a:t>✅ Real-time Grad-CAM Heatmaps</a:t>
            </a:r>
          </a:p>
          <a:p>
            <a:pPr lvl="1">
              <a:spcAft>
                <a:spcPts val="2000"/>
              </a:spcAft>
            </a:pPr>
            <a:r>
              <a:t>✅ Edge-Ready TFLite Model (2.4MB)</a:t>
            </a:r>
          </a:p>
          <a:p>
            <a:pPr lvl="1">
              <a:spcAft>
                <a:spcPts val="2000"/>
              </a:spcAft>
            </a:pPr>
            <a:r>
              <a:t>✅ 76.55% Accuracy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88E5"/>
                </a:solidFill>
                <a:latin typeface="Arial"/>
              </a:defRPr>
            </a:pPr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2000"/>
              </a:spcAft>
              <a:defRPr sz="2600"/>
            </a:pPr>
            <a:r>
              <a:t>🌊 Aquaculture Farms: Daily monitoring &amp; disease prevention</a:t>
            </a:r>
          </a:p>
          <a:p>
            <a:pPr>
              <a:spcAft>
                <a:spcPts val="2000"/>
              </a:spcAft>
              <a:defRPr sz="2600"/>
            </a:pPr>
            <a:r>
              <a:t>🔬 Research: Disease pattern analysis</a:t>
            </a:r>
          </a:p>
          <a:p>
            <a:pPr>
              <a:spcAft>
                <a:spcPts val="2000"/>
              </a:spcAft>
              <a:defRPr sz="2600"/>
            </a:pPr>
            <a:r>
              <a:t>📱 Mobile Diagnosis: Farmers with smartphones (Offline)</a:t>
            </a:r>
          </a:p>
          <a:p>
            <a:pPr>
              <a:spcAft>
                <a:spcPts val="2000"/>
              </a:spcAft>
              <a:defRPr sz="2600"/>
            </a:pPr>
            <a:r>
              <a:t>🐟 Hatcheries: Quality control &amp; breeding selection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88E5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&amp; Summary</a:t>
            </a:r>
          </a:p>
          <a:p>
            <a:pPr lvl="1">
              <a:spcAft>
                <a:spcPts val="2400"/>
              </a:spcAft>
              <a:defRPr sz="2800"/>
            </a:pPr>
            <a:r>
              <a:t>We built a fully functional, end-to-end AI system.</a:t>
            </a:r>
          </a:p>
          <a:p>
            <a:pPr lvl="1">
              <a:spcAft>
                <a:spcPts val="2400"/>
              </a:spcAft>
              <a:defRPr sz="2800"/>
            </a:pPr>
            <a:r>
              <a:t>Solves a critical problem in aquaculture with 76% accuracy.</a:t>
            </a:r>
          </a:p>
          <a:p>
            <a:pPr lvl="1">
              <a:spcAft>
                <a:spcPts val="2400"/>
              </a:spcAft>
              <a:defRPr sz="2800"/>
            </a:pPr>
            <a:r>
              <a:t>Transparent decision making (Explainable AI).</a:t>
            </a:r>
          </a:p>
          <a:p>
            <a:pPr lvl="1">
              <a:spcAft>
                <a:spcPts val="2400"/>
              </a:spcAft>
              <a:defRPr sz="2800"/>
            </a:pPr>
            <a:r>
              <a:t>Ready for real-world use on edge devices.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7000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481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AI-Powered Fish Health System</vt:lpstr>
      <vt:lpstr>Problem &amp; Solution</vt:lpstr>
      <vt:lpstr>PowerPoint Presentation</vt:lpstr>
      <vt:lpstr>Disease Classes (7 Categories)</vt:lpstr>
      <vt:lpstr>Technical Architecture</vt:lpstr>
      <vt:lpstr>Model Performance</vt:lpstr>
      <vt:lpstr>Explainable AI - Grad-CAM</vt:lpstr>
      <vt:lpstr>Edge-AI Deployment</vt:lpstr>
      <vt:lpstr>Key Achievements</vt:lpstr>
      <vt:lpstr>Real-World Applications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ShadowRealm .</cp:lastModifiedBy>
  <cp:revision>3</cp:revision>
  <dcterms:created xsi:type="dcterms:W3CDTF">2013-01-27T09:14:16Z</dcterms:created>
  <dcterms:modified xsi:type="dcterms:W3CDTF">2026-01-09T17:39:05Z</dcterms:modified>
  <cp:category/>
</cp:coreProperties>
</file>